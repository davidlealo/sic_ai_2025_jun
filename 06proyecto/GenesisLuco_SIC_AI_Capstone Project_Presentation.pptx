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902825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MHh4JVVArZfIhVCXAAoAUDGJ/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19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845dd6008_0_2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845dd6008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8845dd6008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845dd6008_0_3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845dd6008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845dd6008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45dd6008_0_5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845dd6008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8845dd6008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845dd6008_0_6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845dd6008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8845dd6008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845dd6008_0_8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845dd6008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8845dd6008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845dd6008_0_9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845dd6008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8845dd6008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845dd6008_0_11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845dd6008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8845dd6008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845dd6008_0_12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845dd6008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8845dd6008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 Cover">
  <p:cSld name="Front Cover">
    <p:bg>
      <p:bgPr>
        <a:solidFill>
          <a:srgbClr val="F2F2F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r>
              <a:t/>
            </a:r>
            <a:endParaRPr b="0" i="0" sz="195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Artificial Intelligence Course</a:t>
            </a:r>
            <a:endParaRPr b="0" i="0" sz="24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/>
          <p:nvPr>
            <p:ph idx="1" type="body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6"/>
          <p:cNvSpPr txBox="1"/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able of Contents2">
  <p:cSld name="3_Table of Contents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able of Contents">
  <p:cSld name="2_Table of Conten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8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8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28" name="Google Shape;28;p8"/>
          <p:cNvSpPr txBox="1"/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b="0" i="0" sz="17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4" type="body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5" type="body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1945" lvl="0" marL="457200" marR="0" rtl="0" algn="l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4640" lvl="1" marL="914400" marR="0" rtl="0" algn="l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defRPr b="0" i="0" sz="1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r>
              <a:t/>
            </a: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able of Contents2">
  <p:cSld name="2_Table of Contents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AI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/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936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b="0" i="0" sz="2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536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836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836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836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836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836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836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b="0" i="0" sz="1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able of Contents">
  <p:cSld name="3_Table of Conten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able of Contents">
  <p:cSld name="1_Table of Conten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>
  <p:cSld name="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cap="flat" cmpd="sng" w="15875">
            <a:solidFill>
              <a:srgbClr val="0924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">
  <p:cSld name="1_Body">
    <p:bg>
      <p:bgPr>
        <a:solidFill>
          <a:srgbClr val="F2F2F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rect b="b" l="l" r="r" t="t"/>
            <a:pathLst>
              <a:path extrusionOk="0" h="334" w="2179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r>
              <a:t/>
            </a: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xoplanetarchive.ipac.caltech.edu/?utm_source=chatgpt.com" TargetMode="External"/><Relationship Id="rId4" Type="http://schemas.openxmlformats.org/officeDocument/2006/relationships/hyperlink" Target="https://exoplanetarchive.ipac.caltech.edu/?utm_source=chatgpt.com" TargetMode="External"/><Relationship Id="rId5" Type="http://schemas.openxmlformats.org/officeDocument/2006/relationships/image" Target="../media/image2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16.jpg"/><Relationship Id="rId5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idx="1" type="body"/>
          </p:nvPr>
        </p:nvSpPr>
        <p:spPr>
          <a:xfrm>
            <a:off x="720000" y="3551768"/>
            <a:ext cx="683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/>
              <a:t>Genesis Naomí Luco Contreras</a:t>
            </a:r>
            <a:endParaRPr/>
          </a:p>
        </p:txBody>
      </p:sp>
      <p:sp>
        <p:nvSpPr>
          <p:cNvPr id="83" name="Google Shape;83;p1"/>
          <p:cNvSpPr txBox="1"/>
          <p:nvPr>
            <p:ph type="title"/>
          </p:nvPr>
        </p:nvSpPr>
        <p:spPr>
          <a:xfrm>
            <a:off x="720000" y="1710000"/>
            <a:ext cx="78792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Exploratory Analysis of TESS Exoplanet Candidates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1. </a:t>
              </a:r>
              <a:r>
                <a:rPr lang="en-US" sz="1800">
                  <a:solidFill>
                    <a:srgbClr val="3F3F3F"/>
                  </a:solidFill>
                </a:rPr>
                <a:t>Introduction</a:t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1.1. </a:t>
              </a:r>
              <a:r>
                <a:rPr lang="en-US">
                  <a:solidFill>
                    <a:srgbClr val="193EB0"/>
                  </a:solidFill>
                </a:rPr>
                <a:t>Background Information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1.2. </a:t>
              </a:r>
              <a:r>
                <a:rPr lang="en-US">
                  <a:solidFill>
                    <a:srgbClr val="A5A5A5"/>
                  </a:solidFill>
                </a:rPr>
                <a:t>Motivation and Objective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1.3. </a:t>
              </a:r>
              <a:r>
                <a:rPr lang="en-US">
                  <a:solidFill>
                    <a:srgbClr val="A5A5A5"/>
                  </a:solidFill>
                </a:rPr>
                <a:t>Members and Role Assignments</a:t>
              </a: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710836" y="3266753"/>
            <a:ext cx="4379913" cy="1216982"/>
            <a:chOff x="4181256" y="3224809"/>
            <a:chExt cx="4379913" cy="1216982"/>
          </a:xfrm>
        </p:grpSpPr>
        <p:sp>
          <p:nvSpPr>
            <p:cNvPr id="93" name="Google Shape;93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2. </a:t>
              </a:r>
              <a:r>
                <a:rPr lang="en-US" sz="1800">
                  <a:solidFill>
                    <a:srgbClr val="3F3F3F"/>
                  </a:solidFill>
                </a:rPr>
                <a:t>Project Execution</a:t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2.1. </a:t>
              </a:r>
              <a:r>
                <a:rPr lang="en-US">
                  <a:solidFill>
                    <a:srgbClr val="193EB0"/>
                  </a:solidFill>
                </a:rPr>
                <a:t>Data Acquisition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2.2. </a:t>
              </a:r>
              <a:r>
                <a:rPr lang="en-US">
                  <a:solidFill>
                    <a:srgbClr val="A5A5A5"/>
                  </a:solidFill>
                </a:rPr>
                <a:t>Training Methodology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2.3. </a:t>
              </a:r>
              <a:r>
                <a:rPr lang="en-US">
                  <a:solidFill>
                    <a:srgbClr val="A5A5A5"/>
                  </a:solidFill>
                </a:rPr>
                <a:t>Workflow</a:t>
              </a:r>
              <a:endParaRPr/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710836" y="4641466"/>
            <a:ext cx="4379913" cy="1216982"/>
            <a:chOff x="4181256" y="3224809"/>
            <a:chExt cx="4379913" cy="1216982"/>
          </a:xfrm>
        </p:grpSpPr>
        <p:sp>
          <p:nvSpPr>
            <p:cNvPr id="97" name="Google Shape;97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3. </a:t>
              </a:r>
              <a:r>
                <a:rPr lang="en-US" sz="1800">
                  <a:solidFill>
                    <a:srgbClr val="3F3F3F"/>
                  </a:solidFill>
                </a:rPr>
                <a:t>Results</a:t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3.1. </a:t>
              </a:r>
              <a:r>
                <a:rPr lang="en-US">
                  <a:solidFill>
                    <a:srgbClr val="193EB0"/>
                  </a:solidFill>
                </a:rPr>
                <a:t>Data Preprocessing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3.2. </a:t>
              </a:r>
              <a:r>
                <a:rPr lang="en-US">
                  <a:solidFill>
                    <a:srgbClr val="A5A5A5"/>
                  </a:solidFill>
                </a:rPr>
                <a:t>Exploratory Data Analysis (EDA)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rPr>
                <a:t>3.3. </a:t>
              </a:r>
              <a:r>
                <a:rPr lang="en-US">
                  <a:solidFill>
                    <a:srgbClr val="A5A5A5"/>
                  </a:solidFill>
                </a:rPr>
                <a:t>Modeling</a:t>
              </a:r>
              <a:endParaRPr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/>
              <a:t>1.1</a:t>
            </a:r>
            <a:endParaRPr/>
          </a:p>
        </p:txBody>
      </p:sp>
      <p:sp>
        <p:nvSpPr>
          <p:cNvPr id="107" name="Google Shape;107;p3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 txBox="1"/>
          <p:nvPr>
            <p:ph idx="3" type="body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09" name="Google Shape;109;p3"/>
          <p:cNvSpPr txBox="1"/>
          <p:nvPr>
            <p:ph idx="4" type="body"/>
          </p:nvPr>
        </p:nvSpPr>
        <p:spPr>
          <a:xfrm>
            <a:off x="8400031" y="480775"/>
            <a:ext cx="80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UNIT</a:t>
            </a:r>
            <a:endParaRPr/>
          </a:p>
        </p:txBody>
      </p:sp>
      <p:sp>
        <p:nvSpPr>
          <p:cNvPr id="110" name="Google Shape;110;p3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746" lvl="0" marL="177746" rtl="0" algn="l">
              <a:spcBef>
                <a:spcPts val="0"/>
              </a:spcBef>
              <a:spcAft>
                <a:spcPts val="0"/>
              </a:spcAft>
              <a:buSzPts val="1470"/>
              <a:buChar char="•"/>
            </a:pPr>
            <a:r>
              <a:rPr b="1" lang="en-US" sz="1100">
                <a:solidFill>
                  <a:schemeClr val="dk1"/>
                </a:solidFill>
              </a:rPr>
              <a:t>TESS (Transiting Exoplanet Survey Satellite)</a:t>
            </a:r>
            <a:r>
              <a:rPr lang="en-US" sz="1100">
                <a:solidFill>
                  <a:schemeClr val="dk1"/>
                </a:solidFill>
              </a:rPr>
              <a:t>: Busca planetas fuera del Sistema Solar mediante el método de tránsito.</a:t>
            </a:r>
            <a:endParaRPr sz="1100">
              <a:solidFill>
                <a:schemeClr val="dk1"/>
              </a:solidFill>
            </a:endParaRPr>
          </a:p>
          <a:p>
            <a:pPr indent="-177746" lvl="0" marL="177746" rtl="0" algn="l">
              <a:spcBef>
                <a:spcPts val="0"/>
              </a:spcBef>
              <a:spcAft>
                <a:spcPts val="0"/>
              </a:spcAft>
              <a:buSzPts val="1470"/>
              <a:buChar char="•"/>
            </a:pPr>
            <a:r>
              <a:rPr lang="en-US" sz="1100">
                <a:solidFill>
                  <a:schemeClr val="dk1"/>
                </a:solidFill>
              </a:rPr>
              <a:t>Dataset: 7,668 objetos, 23 columnas (radio, periodo orbital, temperatura estelar, etc.)</a:t>
            </a:r>
            <a:endParaRPr sz="1100">
              <a:solidFill>
                <a:schemeClr val="dk1"/>
              </a:solidFill>
            </a:endParaRPr>
          </a:p>
          <a:p>
            <a:pPr indent="-177746" lvl="0" marL="177746" rtl="0" algn="l">
              <a:spcBef>
                <a:spcPts val="0"/>
              </a:spcBef>
              <a:spcAft>
                <a:spcPts val="0"/>
              </a:spcAft>
              <a:buSzPts val="1470"/>
              <a:buChar char="•"/>
            </a:pPr>
            <a:r>
              <a:rPr lang="en-US" sz="1100">
                <a:solidFill>
                  <a:schemeClr val="dk1"/>
                </a:solidFill>
              </a:rPr>
              <a:t>Fuente: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NASA Exoplanet Archive</a:t>
            </a:r>
            <a:endParaRPr/>
          </a:p>
        </p:txBody>
      </p:sp>
      <p:pic>
        <p:nvPicPr>
          <p:cNvPr id="111" name="Google Shape;111;p3" title="GSFC_20171208_Archive_e002172~ori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125" y="2864800"/>
            <a:ext cx="4113776" cy="32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845dd6008_0_25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 &amp; Objectives</a:t>
            </a:r>
            <a:endParaRPr/>
          </a:p>
        </p:txBody>
      </p:sp>
      <p:sp>
        <p:nvSpPr>
          <p:cNvPr id="118" name="Google Shape;118;g38845dd6008_0_25"/>
          <p:cNvSpPr txBox="1"/>
          <p:nvPr>
            <p:ph idx="1" type="body"/>
          </p:nvPr>
        </p:nvSpPr>
        <p:spPr>
          <a:xfrm>
            <a:off x="449468" y="450000"/>
            <a:ext cx="324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1.2</a:t>
            </a:r>
            <a:endParaRPr/>
          </a:p>
        </p:txBody>
      </p:sp>
      <p:sp>
        <p:nvSpPr>
          <p:cNvPr id="119" name="Google Shape;119;g38845dd6008_0_25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8845dd6008_0_25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21" name="Google Shape;121;g38845dd6008_0_25"/>
          <p:cNvSpPr txBox="1"/>
          <p:nvPr>
            <p:ph idx="4" type="body"/>
          </p:nvPr>
        </p:nvSpPr>
        <p:spPr>
          <a:xfrm>
            <a:off x="8345832" y="480775"/>
            <a:ext cx="8628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lang="en-US"/>
              <a:t>UNIT</a:t>
            </a:r>
            <a:endParaRPr/>
          </a:p>
        </p:txBody>
      </p:sp>
      <p:sp>
        <p:nvSpPr>
          <p:cNvPr id="122" name="Google Shape;122;g38845dd6008_0_25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Comprender patrones en los exoplanetas candidatos.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Analizar relación entre características planetarias y estelares.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Visualizar tendencias y correlaciones para futuras investigaciones.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g38845dd6008_0_25" title="PIA24372~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8387" y="3425100"/>
            <a:ext cx="5146051" cy="28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845dd6008_0_38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&amp; Roles</a:t>
            </a:r>
            <a:endParaRPr/>
          </a:p>
        </p:txBody>
      </p:sp>
      <p:sp>
        <p:nvSpPr>
          <p:cNvPr id="130" name="Google Shape;130;g38845dd6008_0_38"/>
          <p:cNvSpPr txBox="1"/>
          <p:nvPr>
            <p:ph idx="1" type="body"/>
          </p:nvPr>
        </p:nvSpPr>
        <p:spPr>
          <a:xfrm>
            <a:off x="449468" y="450000"/>
            <a:ext cx="324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1.3</a:t>
            </a:r>
            <a:endParaRPr/>
          </a:p>
        </p:txBody>
      </p:sp>
      <p:sp>
        <p:nvSpPr>
          <p:cNvPr id="131" name="Google Shape;131;g38845dd6008_0_38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8845dd6008_0_38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33" name="Google Shape;133;g38845dd6008_0_38"/>
          <p:cNvSpPr txBox="1"/>
          <p:nvPr>
            <p:ph idx="4" type="body"/>
          </p:nvPr>
        </p:nvSpPr>
        <p:spPr>
          <a:xfrm>
            <a:off x="8487904" y="480775"/>
            <a:ext cx="7209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</a:pPr>
            <a:r>
              <a:rPr lang="en-US"/>
              <a:t>UNIT</a:t>
            </a:r>
            <a:endParaRPr/>
          </a:p>
        </p:txBody>
      </p:sp>
      <p:sp>
        <p:nvSpPr>
          <p:cNvPr id="134" name="Google Shape;134;g38845dd6008_0_38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Genesis Naomí Luco Contreras</a:t>
            </a:r>
            <a:endParaRPr/>
          </a:p>
        </p:txBody>
      </p:sp>
      <p:pic>
        <p:nvPicPr>
          <p:cNvPr id="135" name="Google Shape;135;g38845dd6008_0_38" title="unnam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550" y="2629786"/>
            <a:ext cx="3417139" cy="341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845dd6008_0_51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Acquisition &amp; Workflow</a:t>
            </a:r>
            <a:endParaRPr/>
          </a:p>
        </p:txBody>
      </p:sp>
      <p:sp>
        <p:nvSpPr>
          <p:cNvPr id="142" name="Google Shape;142;g38845dd6008_0_51"/>
          <p:cNvSpPr txBox="1"/>
          <p:nvPr>
            <p:ph idx="1" type="body"/>
          </p:nvPr>
        </p:nvSpPr>
        <p:spPr>
          <a:xfrm>
            <a:off x="449468" y="450000"/>
            <a:ext cx="324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</a:t>
            </a:r>
            <a:endParaRPr/>
          </a:p>
        </p:txBody>
      </p:sp>
      <p:sp>
        <p:nvSpPr>
          <p:cNvPr id="143" name="Google Shape;143;g38845dd6008_0_51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8845dd6008_0_51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145" name="Google Shape;145;g38845dd6008_0_51"/>
          <p:cNvSpPr txBox="1"/>
          <p:nvPr>
            <p:ph idx="4" type="body"/>
          </p:nvPr>
        </p:nvSpPr>
        <p:spPr>
          <a:xfrm>
            <a:off x="8487904" y="480775"/>
            <a:ext cx="7209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</a:t>
            </a:r>
            <a:endParaRPr/>
          </a:p>
        </p:txBody>
      </p:sp>
      <p:sp>
        <p:nvSpPr>
          <p:cNvPr id="146" name="Google Shape;146;g38845dd6008_0_51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Descarga desde NASA Exoplanet Archive (CSV).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Limpieza de metadatos y encabezados redundantes.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Proceso: </a:t>
            </a:r>
            <a:r>
              <a:rPr b="1" lang="en-US" sz="1100">
                <a:solidFill>
                  <a:schemeClr val="dk1"/>
                </a:solidFill>
              </a:rPr>
              <a:t>Dataset → Preprocesamiento → EDA → Visualización → Interpretación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g38845dd6008_0_51" title="PIA21473~ori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037" y="3425100"/>
            <a:ext cx="3597824" cy="278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845dd6008_0_65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 (Exploratory Data Analysis)</a:t>
            </a:r>
            <a:endParaRPr/>
          </a:p>
        </p:txBody>
      </p:sp>
      <p:sp>
        <p:nvSpPr>
          <p:cNvPr id="154" name="Google Shape;154;g38845dd6008_0_65"/>
          <p:cNvSpPr txBox="1"/>
          <p:nvPr>
            <p:ph idx="1" type="body"/>
          </p:nvPr>
        </p:nvSpPr>
        <p:spPr>
          <a:xfrm>
            <a:off x="449468" y="450000"/>
            <a:ext cx="324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3.2</a:t>
            </a:r>
            <a:endParaRPr/>
          </a:p>
        </p:txBody>
      </p:sp>
      <p:sp>
        <p:nvSpPr>
          <p:cNvPr id="155" name="Google Shape;155;g38845dd6008_0_65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8845dd6008_0_65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157" name="Google Shape;157;g38845dd6008_0_65"/>
          <p:cNvSpPr txBox="1"/>
          <p:nvPr>
            <p:ph idx="4" type="body"/>
          </p:nvPr>
        </p:nvSpPr>
        <p:spPr>
          <a:xfrm>
            <a:off x="8487904" y="480775"/>
            <a:ext cx="7209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</a:t>
            </a:r>
            <a:endParaRPr/>
          </a:p>
        </p:txBody>
      </p:sp>
      <p:sp>
        <p:nvSpPr>
          <p:cNvPr id="158" name="Google Shape;158;g38845dd6008_0_65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Radio planetario (</a:t>
            </a:r>
            <a:r>
              <a:rPr b="1"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pl_rade</a:t>
            </a:r>
            <a:r>
              <a:rPr b="1" lang="en-US" sz="1100">
                <a:solidFill>
                  <a:schemeClr val="dk1"/>
                </a:solidFill>
              </a:rPr>
              <a:t>)</a:t>
            </a:r>
            <a:r>
              <a:rPr lang="en-US" sz="1100">
                <a:solidFill>
                  <a:schemeClr val="dk1"/>
                </a:solidFill>
              </a:rPr>
              <a:t>: Mayoría &lt;20 radios terrestres.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Periodo orbital (</a:t>
            </a:r>
            <a:r>
              <a:rPr b="1"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pl_orbper</a:t>
            </a:r>
            <a:r>
              <a:rPr b="1" lang="en-US" sz="1100">
                <a:solidFill>
                  <a:schemeClr val="dk1"/>
                </a:solidFill>
              </a:rPr>
              <a:t>)</a:t>
            </a:r>
            <a:r>
              <a:rPr lang="en-US" sz="1100">
                <a:solidFill>
                  <a:schemeClr val="dk1"/>
                </a:solidFill>
              </a:rPr>
              <a:t>: Mayoría &lt;50 días.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Temperatura estelar (</a:t>
            </a:r>
            <a:r>
              <a:rPr b="1"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st_teff</a:t>
            </a:r>
            <a:r>
              <a:rPr b="1" lang="en-US" sz="1100">
                <a:solidFill>
                  <a:schemeClr val="dk1"/>
                </a:solidFill>
              </a:rPr>
              <a:t>)</a:t>
            </a:r>
            <a:r>
              <a:rPr lang="en-US" sz="1100">
                <a:solidFill>
                  <a:schemeClr val="dk1"/>
                </a:solidFill>
              </a:rPr>
              <a:t>: Predominio estrellas tipo solar.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Correlación: Planetas grandes → órbitas cortas; Planetas pequeños → mayor rango orbital.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g38845dd6008_0_65" title="GSFC_20171208_Archive_e000132~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76029"/>
            <a:ext cx="3370699" cy="189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8845dd6008_0_65" title="GSFC_20171208_Archive_e001417~lar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6051" y="3425111"/>
            <a:ext cx="3370714" cy="189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8845dd6008_0_65" title="PIA23408~ori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2125" y="4369197"/>
            <a:ext cx="3370699" cy="189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845dd6008_0_81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&amp; Interface</a:t>
            </a:r>
            <a:endParaRPr/>
          </a:p>
        </p:txBody>
      </p:sp>
      <p:sp>
        <p:nvSpPr>
          <p:cNvPr id="168" name="Google Shape;168;g38845dd6008_0_81"/>
          <p:cNvSpPr txBox="1"/>
          <p:nvPr>
            <p:ph idx="1" type="body"/>
          </p:nvPr>
        </p:nvSpPr>
        <p:spPr>
          <a:xfrm>
            <a:off x="449468" y="450000"/>
            <a:ext cx="3240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3.3</a:t>
            </a:r>
            <a:endParaRPr/>
          </a:p>
        </p:txBody>
      </p:sp>
      <p:sp>
        <p:nvSpPr>
          <p:cNvPr id="169" name="Google Shape;169;g38845dd6008_0_81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8845dd6008_0_81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171" name="Google Shape;171;g38845dd6008_0_81"/>
          <p:cNvSpPr txBox="1"/>
          <p:nvPr>
            <p:ph idx="4" type="body"/>
          </p:nvPr>
        </p:nvSpPr>
        <p:spPr>
          <a:xfrm>
            <a:off x="8487904" y="480775"/>
            <a:ext cx="7209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UNIT</a:t>
            </a:r>
            <a:endParaRPr/>
          </a:p>
        </p:txBody>
      </p:sp>
      <p:sp>
        <p:nvSpPr>
          <p:cNvPr id="172" name="Google Shape;172;g38845dd6008_0_81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No se aplicó modelado predictivo (proyecto exploratorio).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Interfaz: Jupyter Notebook interactivo con filtros y visualizaciones.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g38845dd6008_0_81" title="ACD20-0044-003_1~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475" y="3136047"/>
            <a:ext cx="3946075" cy="23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8845dd6008_0_81" title="PIA22087~lar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3850" y="2871686"/>
            <a:ext cx="4044946" cy="3417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845dd6008_0_99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Summary</a:t>
            </a:r>
            <a:endParaRPr/>
          </a:p>
        </p:txBody>
      </p:sp>
      <p:sp>
        <p:nvSpPr>
          <p:cNvPr id="181" name="Google Shape;181;g38845dd6008_0_99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8845dd6008_0_99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8845dd6008_0_99"/>
          <p:cNvSpPr txBox="1"/>
          <p:nvPr>
            <p:ph idx="4" type="body"/>
          </p:nvPr>
        </p:nvSpPr>
        <p:spPr>
          <a:xfrm>
            <a:off x="8487904" y="480775"/>
            <a:ext cx="7209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8845dd6008_0_99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Identificación de patrones clave y outliers.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Preparación de dataset para futuros análisis predictivos.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Documentación y explicación de todas las visualizaciones.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g38845dd6008_0_99" title="PIA22082~ori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775" y="3136049"/>
            <a:ext cx="5713951" cy="32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845dd6008_0_114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Projected Impact</a:t>
            </a:r>
            <a:endParaRPr/>
          </a:p>
        </p:txBody>
      </p:sp>
      <p:sp>
        <p:nvSpPr>
          <p:cNvPr id="192" name="Google Shape;192;g38845dd6008_0_114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8845dd6008_0_114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8845dd6008_0_114"/>
          <p:cNvSpPr txBox="1"/>
          <p:nvPr>
            <p:ph idx="4" type="body"/>
          </p:nvPr>
        </p:nvSpPr>
        <p:spPr>
          <a:xfrm>
            <a:off x="8487904" y="480775"/>
            <a:ext cx="7209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845dd6008_0_114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Logros:</a:t>
            </a:r>
            <a:r>
              <a:rPr lang="en-US" sz="1100">
                <a:solidFill>
                  <a:schemeClr val="dk1"/>
                </a:solidFill>
              </a:rPr>
              <a:t> Comprensión de distribución planetaria y estelar, base para investigación y educación STEM.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Futuro:</a:t>
            </a:r>
            <a:r>
              <a:rPr lang="en-US" sz="1100">
                <a:solidFill>
                  <a:schemeClr val="dk1"/>
                </a:solidFill>
              </a:rPr>
              <a:t> Clustering de planetas, análisis de correlaciones profundas, modelos predictivos de habitabilidad.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g38845dd6008_0_114" title="PIA15258~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900" y="2986600"/>
            <a:ext cx="7177027" cy="31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845dd6008_0_128"/>
          <p:cNvSpPr txBox="1"/>
          <p:nvPr>
            <p:ph type="title"/>
          </p:nvPr>
        </p:nvSpPr>
        <p:spPr>
          <a:xfrm>
            <a:off x="449468" y="1440000"/>
            <a:ext cx="85413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Review</a:t>
            </a:r>
            <a:endParaRPr/>
          </a:p>
        </p:txBody>
      </p:sp>
      <p:sp>
        <p:nvSpPr>
          <p:cNvPr id="203" name="Google Shape;203;g38845dd6008_0_128"/>
          <p:cNvSpPr txBox="1"/>
          <p:nvPr>
            <p:ph idx="2" type="body"/>
          </p:nvPr>
        </p:nvSpPr>
        <p:spPr>
          <a:xfrm>
            <a:off x="790000" y="450001"/>
            <a:ext cx="68379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Exploratory Analysis of TESS Exoplanet Candidates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8845dd6008_0_128"/>
          <p:cNvSpPr txBox="1"/>
          <p:nvPr>
            <p:ph idx="3" type="body"/>
          </p:nvPr>
        </p:nvSpPr>
        <p:spPr>
          <a:xfrm>
            <a:off x="9112825" y="480779"/>
            <a:ext cx="340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8845dd6008_0_128"/>
          <p:cNvSpPr txBox="1"/>
          <p:nvPr>
            <p:ph idx="4" type="body"/>
          </p:nvPr>
        </p:nvSpPr>
        <p:spPr>
          <a:xfrm>
            <a:off x="8487904" y="480775"/>
            <a:ext cx="7209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8845dd6008_0_128"/>
          <p:cNvSpPr txBox="1"/>
          <p:nvPr>
            <p:ph idx="5" type="body"/>
          </p:nvPr>
        </p:nvSpPr>
        <p:spPr>
          <a:xfrm>
            <a:off x="522288" y="2221661"/>
            <a:ext cx="805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“El análisis permitió identificar patrones claros y sentar bases para futuros modelos.” Genesis Luco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g38845dd6008_0_128" title="PIA20690~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63" y="2606461"/>
            <a:ext cx="6074914" cy="341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2019-07-06T14:12:49Z</dcterms:created>
  <dc:creator>Soon Yong Chang</dc:creator>
</cp:coreProperties>
</file>